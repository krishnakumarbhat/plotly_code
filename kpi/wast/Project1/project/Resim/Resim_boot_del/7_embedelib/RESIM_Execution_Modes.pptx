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4" r:id="rId2"/>
    <p:sldId id="440" r:id="rId3"/>
    <p:sldId id="1348" r:id="rId4"/>
    <p:sldId id="454" r:id="rId5"/>
    <p:sldId id="455" r:id="rId6"/>
    <p:sldId id="4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, Sarath" initials="HS" lastIdx="2" clrIdx="0">
    <p:extLst>
      <p:ext uri="{19B8F6BF-5375-455C-9EA6-DF929625EA0E}">
        <p15:presenceInfo xmlns:p15="http://schemas.microsoft.com/office/powerpoint/2012/main" userId="H, Sarat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customXml" Target="../customXml/item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10-15T19:09:20.370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  <p:cm authorId="1" dt="2020-10-15T19:11:33.734" idx="2">
    <p:pos x="10" y="106"/>
    <p:text>The Radar Hardware in use is a Tri Core Micro controller. We have designed the architecture in such a way that each core has its defined function and all are time bound. 
Core 1 - Runs all the DSP Releated functions including the Antenna TX and RX ADC Processings
Core 2 - Runs all the Application Algorithms like Angle Finding, Tracking and Features
Core 0 - Runs the main OS. Contains all the customer specific interfaces and Diagnostic Modules.</p:text>
    <p:extLst>
      <p:ext uri="{C676402C-5697-4E1C-873F-D02D1690AC5C}">
        <p15:threadingInfo xmlns:p15="http://schemas.microsoft.com/office/powerpoint/2012/main" timeZoneBias="-330">
          <p15:parentCm authorId="1" idx="1"/>
        </p15:threadingInfo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A692-70E8-B9B8-10EC-633C5E393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16D91-3982-B57B-E899-89BB4774A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36F05-AD02-10C1-0864-A9E73962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1CA1-3A14-47A2-85F0-AFF3F075DDD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454DC-17C0-D790-302B-4F68B032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CF0D5-8FB3-14E9-999D-534D1ADBE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F0BC-5674-40C8-A873-2533B8D80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33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93FD-09AD-6539-FC1B-B8674C1B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E8E7C-42A6-5C30-5CAB-38B8891AC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E38F-8014-DE0C-75D4-B8457BF4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1CA1-3A14-47A2-85F0-AFF3F075DDD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9EB8B-6D70-0353-40D6-EE5C98B35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0203F-AEE0-0BBE-B5BD-A09A8372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F0BC-5674-40C8-A873-2533B8D80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13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C842-F8D9-E19A-D1FB-A2896A636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A3FD8-D946-EDB4-DD8D-26126D529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94488-866D-E2B8-064E-7F4528B8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1CA1-3A14-47A2-85F0-AFF3F075DDD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7176A-9F7B-EEEB-A487-DF056D714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0BDEA-FD80-5E64-D905-1DBF37CE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F0BC-5674-40C8-A873-2533B8D80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0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33F48-4F6C-EB81-E250-50B1DA08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A6B24-8F49-A6AC-B1A7-CE7F97A56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692CC-6D8B-0BCC-C4A6-94431F712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9D8DE-A323-A702-9CE0-C46C31A4C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1CA1-3A14-47A2-85F0-AFF3F075DDD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748C4-24A7-670D-D78B-BE0ADC6D2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222BE-43B6-37F3-953F-96A70B30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F0BC-5674-40C8-A873-2533B8D80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0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8F9E-0FDF-4A02-10FD-90C59157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2E7A6-7B19-DFFD-2C9F-C1BCDE904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43FB4-79CB-9312-6F53-E19F10505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635A73-DEF9-904A-E306-E3AC82D358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A7477-77B2-B5B3-E340-06A9A704D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092EC5-6F2F-5CCE-D564-245C102A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1CA1-3A14-47A2-85F0-AFF3F075DDD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313F24-8CFF-7261-168C-314F2FFA6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7E1FF-7AAF-9978-49A8-C3E07ED8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F0BC-5674-40C8-A873-2533B8D80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23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4F21-5973-CD87-BFAD-268BAAB2C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D27D75-1057-25CE-347A-4A7D71DB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1CA1-3A14-47A2-85F0-AFF3F075DDD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5B929-ABD8-09E2-2561-CFA24762B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EC5D4-856A-F201-0C1A-AE652F07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F0BC-5674-40C8-A873-2533B8D80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95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A72F4A-5129-A6CB-247E-2010AFF7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1CA1-3A14-47A2-85F0-AFF3F075DDD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A233A6-63A1-7B93-EEF2-86F80D2A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6E4BE-4F0C-50C5-D074-E31DC560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F0BC-5674-40C8-A873-2533B8D80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7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333D1-C887-BF3B-210D-EF14038DC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A8BBD-48CA-BE50-E2B3-41EBF2F5C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1280D-830D-24F3-3138-AAB2AE635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0283A-A986-46E1-F0C7-447DEFAC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1CA1-3A14-47A2-85F0-AFF3F075DDD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C9EDB-69CD-EEA9-6A94-0101605B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80DC2-654D-81B4-232A-F43AB840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F0BC-5674-40C8-A873-2533B8D80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1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BC32-9EB8-8C43-69C7-5465A721F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44D4B8-D44D-CE40-F9EE-A0DD86EFB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53B53-1533-FB84-9B5A-65E781BF2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8F89D-AE41-0D2F-819B-41AE8E623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1CA1-3A14-47A2-85F0-AFF3F075DDD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5178D-9A86-0444-AC4F-DD92B70A2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6564B-1620-237B-BDE3-AFB7D272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F0BC-5674-40C8-A873-2533B8D80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87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0FCA-1D9B-7FA3-6FE8-8CCA35722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89E80F-2451-566F-C144-2E8F28B89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8B0DF-E77A-C401-A2ED-FC143911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1CA1-3A14-47A2-85F0-AFF3F075DDD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8A3E1-D61F-D404-ECF5-104D1224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65DC1-FDF7-D97C-3BFC-287FDEEF8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F0BC-5674-40C8-A873-2533B8D80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31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BD3B33-2E5E-381D-F935-0E00042A6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0AFA3-642A-EC2F-55C9-4EC9A898F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466D4-52B3-C212-BCB4-CEECD4594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1CA1-3A14-47A2-85F0-AFF3F075DDD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EE397-EA37-B59A-92D4-877ACC72F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1971-BF89-96C6-0980-8B4CFF01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F0BC-5674-40C8-A873-2533B8D80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10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resentation titl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 userDrawn="1"/>
        </p:nvSpPr>
        <p:spPr>
          <a:xfrm>
            <a:off x="-241739" y="1718442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</p:spPr>
        <p:txBody>
          <a:bodyPr>
            <a:normAutofit/>
          </a:bodyPr>
          <a:lstStyle>
            <a:lvl1pPr>
              <a:defRPr sz="4800" cap="all" spc="200" baseline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872" y="6141573"/>
            <a:ext cx="2289401" cy="51563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2853458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 tex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10969246" cy="39624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 | Date | Aptiv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08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41F711-46CC-FCA1-F6CF-1317F6814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0830E-A424-8EB5-EE02-FF140793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2BE44-EB7B-34B2-9B8B-F68277FE8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C1CA1-3A14-47A2-85F0-AFF3F075DDD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B554D-88D7-A5DF-1F7D-36A7C0397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A6E37-D91F-A93B-1844-7CD6AF83B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4F0BC-5674-40C8-A873-2533B8D80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49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609599" y="1600200"/>
            <a:ext cx="9108832" cy="1420402"/>
          </a:xfrm>
        </p:spPr>
        <p:txBody>
          <a:bodyPr>
            <a:normAutofit/>
          </a:bodyPr>
          <a:lstStyle/>
          <a:p>
            <a:r>
              <a:rPr lang="en-US" dirty="0"/>
              <a:t>RESIM Supported modes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March 12, 2024</a:t>
            </a:r>
          </a:p>
        </p:txBody>
      </p:sp>
      <p:sp>
        <p:nvSpPr>
          <p:cNvPr id="17" name="Oval 16"/>
          <p:cNvSpPr/>
          <p:nvPr/>
        </p:nvSpPr>
        <p:spPr>
          <a:xfrm>
            <a:off x="-241739" y="1718442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352800" y="212582"/>
            <a:ext cx="6365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Pavan Jaggarapu</a:t>
            </a:r>
          </a:p>
          <a:p>
            <a:r>
              <a:rPr lang="en-US" dirty="0"/>
              <a:t>Senior Software Engineer</a:t>
            </a:r>
          </a:p>
        </p:txBody>
      </p:sp>
    </p:spTree>
    <p:extLst>
      <p:ext uri="{BB962C8B-B14F-4D97-AF65-F5344CB8AC3E}">
        <p14:creationId xmlns:p14="http://schemas.microsoft.com/office/powerpoint/2010/main" val="410791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9087757" y="4483538"/>
            <a:ext cx="1227344" cy="12081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9087757" y="3010695"/>
            <a:ext cx="1182816" cy="9960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102574" y="1685481"/>
            <a:ext cx="1167999" cy="12229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16FC31-9C01-4BC6-8768-4CE07842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SRR Radar Core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11CFC-7A8D-4471-AF46-4DA5F16483D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244" y="6324599"/>
            <a:ext cx="3621107" cy="304802"/>
          </a:xfrm>
        </p:spPr>
        <p:txBody>
          <a:bodyPr/>
          <a:lstStyle/>
          <a:p>
            <a:r>
              <a:rPr lang="en-US" dirty="0"/>
              <a:t>RESIM Overview Part-2 | 16-Oct-2020 | Aptiv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0C6E2-008F-4646-BE6E-A6E8F241DB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891230" y="6322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Slide Number Placeholder 1"/>
          <p:cNvSpPr txBox="1">
            <a:spLocks/>
          </p:cNvSpPr>
          <p:nvPr/>
        </p:nvSpPr>
        <p:spPr>
          <a:xfrm>
            <a:off x="1769793" y="6271055"/>
            <a:ext cx="468413" cy="30480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690830" y="3985056"/>
            <a:ext cx="7313471" cy="1960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90831" y="1720703"/>
            <a:ext cx="1828800" cy="228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19630" y="1720702"/>
            <a:ext cx="5484670" cy="22643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43230" y="1015236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Core1(Z7A)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512446" y="1057299"/>
            <a:ext cx="2239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Core2(Z7B)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764" y="6118656"/>
            <a:ext cx="2107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Core0(Z4)</a:t>
            </a:r>
            <a:endParaRPr lang="en-US" b="1" dirty="0"/>
          </a:p>
        </p:txBody>
      </p:sp>
      <p:sp>
        <p:nvSpPr>
          <p:cNvPr id="14" name="Rectangle 13"/>
          <p:cNvSpPr/>
          <p:nvPr/>
        </p:nvSpPr>
        <p:spPr>
          <a:xfrm>
            <a:off x="1843230" y="3756456"/>
            <a:ext cx="1524000" cy="457200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976830" y="3756456"/>
            <a:ext cx="1524000" cy="457200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78628" y="2207491"/>
            <a:ext cx="541626" cy="118619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916957" y="2537256"/>
            <a:ext cx="14097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2878857" y="2994456"/>
            <a:ext cx="14478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874543" y="3299256"/>
            <a:ext cx="0" cy="1444336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4429745" y="3277608"/>
            <a:ext cx="0" cy="1414895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638994" y="3320904"/>
            <a:ext cx="0" cy="1444336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2353367" y="3299256"/>
            <a:ext cx="0" cy="1414895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Right Arrow 3"/>
          <p:cNvSpPr/>
          <p:nvPr/>
        </p:nvSpPr>
        <p:spPr>
          <a:xfrm>
            <a:off x="9227941" y="2131013"/>
            <a:ext cx="763729" cy="3297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-Right Arrow 4"/>
          <p:cNvSpPr/>
          <p:nvPr/>
        </p:nvSpPr>
        <p:spPr>
          <a:xfrm>
            <a:off x="9114872" y="4890506"/>
            <a:ext cx="1155701" cy="39540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9102573" y="1685481"/>
            <a:ext cx="1155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Ethernet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487" y="5318988"/>
            <a:ext cx="113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CAN FD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054" y="5045332"/>
            <a:ext cx="2285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Feature Function State Machines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8792" y="2302809"/>
            <a:ext cx="1560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Tracking Algorithm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8868" y="2997738"/>
            <a:ext cx="2540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         FEATURE      	Algorithms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4930" y="2793341"/>
            <a:ext cx="6510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2653" y="4543537"/>
            <a:ext cx="958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43230" y="1908546"/>
            <a:ext cx="1370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Signal Processing Algorithms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24431" y="1847426"/>
            <a:ext cx="2100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Angle Finding Algorithm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054" y="4160373"/>
            <a:ext cx="2285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Flexray/CAN Comm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36846" y="2765856"/>
            <a:ext cx="69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IPC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92394" y="5342245"/>
            <a:ext cx="117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OS Sync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2574" y="2539143"/>
            <a:ext cx="1155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Logging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4866" y="4949656"/>
            <a:ext cx="1969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AUTOSAR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49796" y="3758756"/>
            <a:ext cx="1524000" cy="457200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Left-Right Arrow 4"/>
          <p:cNvSpPr/>
          <p:nvPr/>
        </p:nvSpPr>
        <p:spPr>
          <a:xfrm>
            <a:off x="9268717" y="3348674"/>
            <a:ext cx="835712" cy="25876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9180487" y="3607224"/>
            <a:ext cx="113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CAN FD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487" y="4470602"/>
            <a:ext cx="113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7941" y="3002904"/>
            <a:ext cx="113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Private</a:t>
            </a:r>
          </a:p>
        </p:txBody>
      </p:sp>
    </p:spTree>
    <p:extLst>
      <p:ext uri="{BB962C8B-B14F-4D97-AF65-F5344CB8AC3E}">
        <p14:creationId xmlns:p14="http://schemas.microsoft.com/office/powerpoint/2010/main" val="3782644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D99F01-3E88-4936-8F14-07CE20DB82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" y="931985"/>
            <a:ext cx="10969246" cy="493541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US" sz="2400" dirty="0">
                <a:solidFill>
                  <a:srgbClr val="00B050"/>
                </a:solidFill>
              </a:rPr>
              <a:t>CDC</a:t>
            </a:r>
            <a:r>
              <a:rPr lang="en-US" sz="2400" b="1" dirty="0">
                <a:solidFill>
                  <a:srgbClr val="00B050"/>
                </a:solidFill>
              </a:rPr>
              <a:t> Mode – CDC Injection   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CDC data injected into Core 1 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Used for debugging Core 1 Signal processing. 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Verify Core 1 Detections &amp; Core 2 - Tracks and Feature Functions.</a:t>
            </a:r>
          </a:p>
          <a:p>
            <a:r>
              <a:rPr lang="en-US" sz="2400" dirty="0">
                <a:solidFill>
                  <a:srgbClr val="00B050"/>
                </a:solidFill>
              </a:rPr>
              <a:t>Detection</a:t>
            </a:r>
            <a:r>
              <a:rPr lang="en-US" sz="2400" b="1" dirty="0">
                <a:solidFill>
                  <a:srgbClr val="00B050"/>
                </a:solidFill>
              </a:rPr>
              <a:t> Mode - Injection of Detections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Detections injected into Core 2  .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Used to Debug Tracker, Fusion and Feature functions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Debugging can be started from Tracks .</a:t>
            </a:r>
          </a:p>
          <a:p>
            <a:r>
              <a:rPr lang="en-US" sz="2400" dirty="0" err="1">
                <a:solidFill>
                  <a:srgbClr val="00B050"/>
                </a:solidFill>
              </a:rPr>
              <a:t>DSpace</a:t>
            </a:r>
            <a:r>
              <a:rPr lang="en-US" sz="2400" b="1" dirty="0">
                <a:solidFill>
                  <a:srgbClr val="00B050"/>
                </a:solidFill>
              </a:rPr>
              <a:t> Mode -  Injection of Simulated Detections 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Simulated Detections from </a:t>
            </a:r>
            <a:r>
              <a:rPr lang="en-US" sz="2200" dirty="0" err="1">
                <a:solidFill>
                  <a:schemeClr val="tx2"/>
                </a:solidFill>
              </a:rPr>
              <a:t>DSpace</a:t>
            </a:r>
            <a:r>
              <a:rPr lang="en-US" sz="2200" dirty="0">
                <a:solidFill>
                  <a:schemeClr val="tx2"/>
                </a:solidFill>
              </a:rPr>
              <a:t> are Injected into Core 2 Tracker Inputs . </a:t>
            </a:r>
          </a:p>
          <a:p>
            <a:pPr lvl="1"/>
            <a:r>
              <a:rPr lang="en-US" sz="2200" dirty="0">
                <a:solidFill>
                  <a:schemeClr val="tx2"/>
                </a:solidFill>
              </a:rPr>
              <a:t>Used to debug Tracker, Fusion and Feature Functions.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Debugging can be started from Tracks 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B9CCA5-BC93-41D9-AC65-83671290A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494" y="198101"/>
            <a:ext cx="8312650" cy="79546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SIL Data Injection and Entry Points</a:t>
            </a:r>
            <a:endParaRPr lang="en-IN" sz="4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35630-B8D5-4638-8F42-1EE9D3745D1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D1532F-61F1-B941-ACDF-6BC65E0B4055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929D9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929D9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901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>
          <a:xfrm>
            <a:off x="1227266" y="6324600"/>
            <a:ext cx="3944766" cy="303874"/>
          </a:xfrm>
        </p:spPr>
        <p:txBody>
          <a:bodyPr/>
          <a:lstStyle/>
          <a:p>
            <a:r>
              <a:rPr lang="en-US" dirty="0"/>
              <a:t>RESIM Overview Part-2 | 16-Oct-2020 | Aptiv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43356" y="3809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66756" y="5257797"/>
            <a:ext cx="7115176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66756" y="1296321"/>
            <a:ext cx="7162800" cy="1219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76327" y="2515521"/>
            <a:ext cx="7162798" cy="28946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365761" y="237092"/>
            <a:ext cx="10972800" cy="833840"/>
          </a:xfrm>
          <a:prstGeom prst="rect">
            <a:avLst/>
          </a:prstGeom>
        </p:spPr>
        <p:txBody>
          <a:bodyPr vert="horz" lIns="91422" tIns="45712" rIns="91422" bIns="45712" rtlCol="0" anchor="b">
            <a:noAutofit/>
          </a:bodyPr>
          <a:lstStyle>
            <a:lvl1pPr algn="l" defTabSz="91422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0070C0"/>
                </a:solidFill>
              </a:rPr>
              <a:t>SIL  (CDC Injection Mode for Verification from Signal Processing Onwards )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682" y="1448721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ADC</a:t>
            </a:r>
          </a:p>
        </p:txBody>
      </p:sp>
      <p:sp>
        <p:nvSpPr>
          <p:cNvPr id="13" name="Right Arrow 8"/>
          <p:cNvSpPr/>
          <p:nvPr/>
        </p:nvSpPr>
        <p:spPr>
          <a:xfrm flipH="1" flipV="1">
            <a:off x="5410156" y="1601121"/>
            <a:ext cx="762000" cy="303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4" name="Rectangle 13"/>
          <p:cNvSpPr/>
          <p:nvPr/>
        </p:nvSpPr>
        <p:spPr>
          <a:xfrm>
            <a:off x="4429082" y="1448721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RDD 1</a:t>
            </a:r>
            <a:r>
              <a:rPr lang="en-US" baseline="30000" dirty="0">
                <a:solidFill>
                  <a:srgbClr val="0070C0"/>
                </a:solidFill>
              </a:rPr>
              <a:t>st</a:t>
            </a:r>
            <a:r>
              <a:rPr lang="en-US" dirty="0">
                <a:solidFill>
                  <a:srgbClr val="0070C0"/>
                </a:solidFill>
              </a:rPr>
              <a:t> Pass</a:t>
            </a:r>
          </a:p>
        </p:txBody>
      </p:sp>
      <p:sp>
        <p:nvSpPr>
          <p:cNvPr id="15" name="Right Arrow 38"/>
          <p:cNvSpPr/>
          <p:nvPr/>
        </p:nvSpPr>
        <p:spPr>
          <a:xfrm flipH="1" flipV="1">
            <a:off x="3352756" y="1629259"/>
            <a:ext cx="1066800" cy="275738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6" name="Rectangle 15"/>
          <p:cNvSpPr/>
          <p:nvPr/>
        </p:nvSpPr>
        <p:spPr>
          <a:xfrm>
            <a:off x="2343106" y="1448721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RDD 2</a:t>
            </a:r>
            <a:r>
              <a:rPr lang="en-US" sz="1600" baseline="30000" dirty="0">
                <a:solidFill>
                  <a:srgbClr val="0070C0"/>
                </a:solidFill>
              </a:rPr>
              <a:t>nd</a:t>
            </a:r>
            <a:r>
              <a:rPr lang="en-US" sz="1600" dirty="0">
                <a:solidFill>
                  <a:srgbClr val="0070C0"/>
                </a:solidFill>
              </a:rPr>
              <a:t> 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6756" y="3276597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Angle Finding</a:t>
            </a:r>
          </a:p>
        </p:txBody>
      </p:sp>
      <p:sp>
        <p:nvSpPr>
          <p:cNvPr id="18" name="Right Arrow 48"/>
          <p:cNvSpPr/>
          <p:nvPr/>
        </p:nvSpPr>
        <p:spPr>
          <a:xfrm flipH="1" flipV="1">
            <a:off x="1523956" y="1641141"/>
            <a:ext cx="838200" cy="304800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9" name="Rectangle 18"/>
          <p:cNvSpPr/>
          <p:nvPr/>
        </p:nvSpPr>
        <p:spPr>
          <a:xfrm>
            <a:off x="6024091" y="4914897"/>
            <a:ext cx="1900665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IPC</a:t>
            </a:r>
          </a:p>
        </p:txBody>
      </p:sp>
      <p:sp>
        <p:nvSpPr>
          <p:cNvPr id="20" name="Down Arrow 61"/>
          <p:cNvSpPr/>
          <p:nvPr/>
        </p:nvSpPr>
        <p:spPr>
          <a:xfrm>
            <a:off x="6324556" y="4038597"/>
            <a:ext cx="266700" cy="809625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219156" y="5676897"/>
            <a:ext cx="990600" cy="3429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OS</a:t>
            </a:r>
          </a:p>
        </p:txBody>
      </p:sp>
      <p:sp>
        <p:nvSpPr>
          <p:cNvPr id="22" name="Down Arrow 10"/>
          <p:cNvSpPr/>
          <p:nvPr/>
        </p:nvSpPr>
        <p:spPr>
          <a:xfrm>
            <a:off x="1219156" y="2362197"/>
            <a:ext cx="304800" cy="83820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-Right Arrow 46"/>
          <p:cNvSpPr/>
          <p:nvPr/>
        </p:nvSpPr>
        <p:spPr>
          <a:xfrm>
            <a:off x="7748544" y="5714997"/>
            <a:ext cx="862012" cy="266700"/>
          </a:xfrm>
          <a:prstGeom prst="left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686756" y="5257797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CAN FD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00368" y="5638797"/>
            <a:ext cx="4319588" cy="4381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Detections ,Tracks, Feature Output</a:t>
            </a:r>
          </a:p>
        </p:txBody>
      </p:sp>
      <p:sp>
        <p:nvSpPr>
          <p:cNvPr id="26" name="Up-Down Arrow 47"/>
          <p:cNvSpPr/>
          <p:nvPr/>
        </p:nvSpPr>
        <p:spPr>
          <a:xfrm>
            <a:off x="7296106" y="5333997"/>
            <a:ext cx="171450" cy="457200"/>
          </a:xfrm>
          <a:prstGeom prst="up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67"/>
          <p:cNvSpPr/>
          <p:nvPr/>
        </p:nvSpPr>
        <p:spPr>
          <a:xfrm>
            <a:off x="5172032" y="3428997"/>
            <a:ext cx="771524" cy="266700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74"/>
          <p:cNvSpPr/>
          <p:nvPr/>
        </p:nvSpPr>
        <p:spPr>
          <a:xfrm flipV="1">
            <a:off x="4588121" y="2133792"/>
            <a:ext cx="285536" cy="60940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981564" y="3276597"/>
            <a:ext cx="1943192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Feature Functions</a:t>
            </a:r>
          </a:p>
        </p:txBody>
      </p:sp>
      <p:sp>
        <p:nvSpPr>
          <p:cNvPr id="30" name="Right Arrow 69"/>
          <p:cNvSpPr/>
          <p:nvPr/>
        </p:nvSpPr>
        <p:spPr>
          <a:xfrm>
            <a:off x="3717638" y="3467097"/>
            <a:ext cx="549518" cy="266700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471693" y="3276597"/>
            <a:ext cx="1228726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Detections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2956" y="2210721"/>
            <a:ext cx="10668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IPC</a:t>
            </a:r>
          </a:p>
        </p:txBody>
      </p:sp>
      <p:sp>
        <p:nvSpPr>
          <p:cNvPr id="33" name="Right Arrow 70"/>
          <p:cNvSpPr/>
          <p:nvPr/>
        </p:nvSpPr>
        <p:spPr>
          <a:xfrm>
            <a:off x="1922175" y="3467097"/>
            <a:ext cx="549518" cy="266700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267156" y="3200397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Tracker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756" y="1532492"/>
            <a:ext cx="1079500" cy="9830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UDP Logs </a:t>
            </a:r>
          </a:p>
        </p:txBody>
      </p:sp>
      <p:sp>
        <p:nvSpPr>
          <p:cNvPr id="36" name="Right Arrow 49"/>
          <p:cNvSpPr/>
          <p:nvPr/>
        </p:nvSpPr>
        <p:spPr>
          <a:xfrm flipH="1">
            <a:off x="4924382" y="2229309"/>
            <a:ext cx="3762372" cy="20918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7" name="Rounded Rectangle 2"/>
          <p:cNvSpPr/>
          <p:nvPr/>
        </p:nvSpPr>
        <p:spPr>
          <a:xfrm>
            <a:off x="8686755" y="2743197"/>
            <a:ext cx="1079501" cy="533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MF4/ DVSU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756" y="3543296"/>
            <a:ext cx="1079500" cy="13049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BINARY</a:t>
            </a:r>
          </a:p>
          <a:p>
            <a:pPr algn="ctr"/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dirty="0" err="1">
                <a:solidFill>
                  <a:srgbClr val="0070C0"/>
                </a:solidFill>
              </a:rPr>
              <a:t>Dets</a:t>
            </a:r>
            <a:r>
              <a:rPr lang="en-US" sz="1600" dirty="0">
                <a:solidFill>
                  <a:srgbClr val="0070C0"/>
                </a:solidFill>
              </a:rPr>
              <a:t>, Tracks , FF)</a:t>
            </a:r>
          </a:p>
        </p:txBody>
      </p:sp>
      <p:sp>
        <p:nvSpPr>
          <p:cNvPr id="39" name="Right Arrow 3"/>
          <p:cNvSpPr/>
          <p:nvPr/>
        </p:nvSpPr>
        <p:spPr>
          <a:xfrm>
            <a:off x="8077156" y="3483766"/>
            <a:ext cx="529768" cy="50006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7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>
          <a:xfrm>
            <a:off x="1227266" y="6324599"/>
            <a:ext cx="3626088" cy="304802"/>
          </a:xfrm>
        </p:spPr>
        <p:txBody>
          <a:bodyPr/>
          <a:lstStyle/>
          <a:p>
            <a:r>
              <a:rPr lang="en-US" dirty="0"/>
              <a:t>RESIM Overview Part-2 | 16-Oct-2020 | Aptiv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755171" y="4078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478571" y="5284673"/>
            <a:ext cx="7115176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78571" y="1323197"/>
            <a:ext cx="7162800" cy="1219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478571" y="2542397"/>
            <a:ext cx="7162798" cy="28946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93497" y="1475597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ADC</a:t>
            </a:r>
          </a:p>
        </p:txBody>
      </p:sp>
      <p:sp>
        <p:nvSpPr>
          <p:cNvPr id="13" name="Right Arrow 8"/>
          <p:cNvSpPr/>
          <p:nvPr/>
        </p:nvSpPr>
        <p:spPr>
          <a:xfrm flipH="1" flipV="1">
            <a:off x="5907697" y="1627997"/>
            <a:ext cx="57150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4" name="Rectangle 13"/>
          <p:cNvSpPr/>
          <p:nvPr/>
        </p:nvSpPr>
        <p:spPr>
          <a:xfrm>
            <a:off x="4840897" y="1475597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RDD 1</a:t>
            </a:r>
            <a:r>
              <a:rPr lang="en-US" baseline="30000" dirty="0">
                <a:solidFill>
                  <a:srgbClr val="0070C0"/>
                </a:solidFill>
              </a:rPr>
              <a:t>st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Pass</a:t>
            </a:r>
          </a:p>
        </p:txBody>
      </p:sp>
      <p:sp>
        <p:nvSpPr>
          <p:cNvPr id="15" name="Right Arrow 38"/>
          <p:cNvSpPr/>
          <p:nvPr/>
        </p:nvSpPr>
        <p:spPr>
          <a:xfrm flipH="1" flipV="1">
            <a:off x="4078897" y="1656135"/>
            <a:ext cx="57150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6" name="Rectangle 15"/>
          <p:cNvSpPr/>
          <p:nvPr/>
        </p:nvSpPr>
        <p:spPr>
          <a:xfrm>
            <a:off x="2754921" y="1475597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RDD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70C0"/>
                </a:solidFill>
              </a:rPr>
              <a:t>2</a:t>
            </a:r>
            <a:r>
              <a:rPr lang="en-US" sz="1600" baseline="30000" dirty="0">
                <a:solidFill>
                  <a:srgbClr val="0070C0"/>
                </a:solidFill>
              </a:rPr>
              <a:t>nd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70C0"/>
                </a:solidFill>
              </a:rPr>
              <a:t>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78571" y="3303473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Angle Finding</a:t>
            </a:r>
          </a:p>
        </p:txBody>
      </p:sp>
      <p:sp>
        <p:nvSpPr>
          <p:cNvPr id="18" name="Right Arrow 48"/>
          <p:cNvSpPr/>
          <p:nvPr/>
        </p:nvSpPr>
        <p:spPr>
          <a:xfrm flipH="1" flipV="1">
            <a:off x="1907195" y="1704197"/>
            <a:ext cx="57150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9" name="Rectangle 18"/>
          <p:cNvSpPr/>
          <p:nvPr/>
        </p:nvSpPr>
        <p:spPr>
          <a:xfrm>
            <a:off x="6435906" y="4941773"/>
            <a:ext cx="1900665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IPC</a:t>
            </a:r>
          </a:p>
        </p:txBody>
      </p:sp>
      <p:sp>
        <p:nvSpPr>
          <p:cNvPr id="20" name="Down Arrow 61"/>
          <p:cNvSpPr/>
          <p:nvPr/>
        </p:nvSpPr>
        <p:spPr>
          <a:xfrm>
            <a:off x="6736371" y="4065473"/>
            <a:ext cx="266700" cy="809625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630971" y="5703773"/>
            <a:ext cx="990600" cy="3429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OS</a:t>
            </a:r>
          </a:p>
        </p:txBody>
      </p:sp>
      <p:sp>
        <p:nvSpPr>
          <p:cNvPr id="22" name="Down Arrow 10"/>
          <p:cNvSpPr/>
          <p:nvPr/>
        </p:nvSpPr>
        <p:spPr>
          <a:xfrm>
            <a:off x="1630971" y="2389073"/>
            <a:ext cx="304800" cy="838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-Right Arrow 46"/>
          <p:cNvSpPr/>
          <p:nvPr/>
        </p:nvSpPr>
        <p:spPr>
          <a:xfrm>
            <a:off x="8160359" y="5741873"/>
            <a:ext cx="862012" cy="266700"/>
          </a:xfrm>
          <a:prstGeom prst="left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9098571" y="5284673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CAN FD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2183" y="5665673"/>
            <a:ext cx="4319588" cy="4381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Detections, Tracks, Feature Output</a:t>
            </a:r>
          </a:p>
        </p:txBody>
      </p:sp>
      <p:sp>
        <p:nvSpPr>
          <p:cNvPr id="26" name="Up-Down Arrow 47"/>
          <p:cNvSpPr/>
          <p:nvPr/>
        </p:nvSpPr>
        <p:spPr>
          <a:xfrm>
            <a:off x="7707921" y="5360873"/>
            <a:ext cx="171450" cy="457200"/>
          </a:xfrm>
          <a:prstGeom prst="up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67"/>
          <p:cNvSpPr/>
          <p:nvPr/>
        </p:nvSpPr>
        <p:spPr>
          <a:xfrm>
            <a:off x="5583847" y="3455873"/>
            <a:ext cx="771524" cy="266700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74"/>
          <p:cNvSpPr/>
          <p:nvPr/>
        </p:nvSpPr>
        <p:spPr>
          <a:xfrm>
            <a:off x="2483561" y="2912032"/>
            <a:ext cx="276020" cy="55291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393379" y="3303473"/>
            <a:ext cx="1943192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Feature Functions</a:t>
            </a:r>
          </a:p>
        </p:txBody>
      </p:sp>
      <p:sp>
        <p:nvSpPr>
          <p:cNvPr id="30" name="Right Arrow 69"/>
          <p:cNvSpPr/>
          <p:nvPr/>
        </p:nvSpPr>
        <p:spPr>
          <a:xfrm>
            <a:off x="4129453" y="3493973"/>
            <a:ext cx="549518" cy="266700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883508" y="3303473"/>
            <a:ext cx="1228726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Detections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771" y="2237597"/>
            <a:ext cx="10668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IPC</a:t>
            </a:r>
          </a:p>
        </p:txBody>
      </p:sp>
      <p:sp>
        <p:nvSpPr>
          <p:cNvPr id="33" name="Right Arrow 70"/>
          <p:cNvSpPr/>
          <p:nvPr/>
        </p:nvSpPr>
        <p:spPr>
          <a:xfrm>
            <a:off x="2333990" y="3493973"/>
            <a:ext cx="549518" cy="266700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678971" y="3227273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Tracker</a:t>
            </a:r>
          </a:p>
        </p:txBody>
      </p:sp>
      <p:sp>
        <p:nvSpPr>
          <p:cNvPr id="35" name="Right Arrow 49"/>
          <p:cNvSpPr/>
          <p:nvPr/>
        </p:nvSpPr>
        <p:spPr>
          <a:xfrm flipH="1">
            <a:off x="2503291" y="2675285"/>
            <a:ext cx="5590289" cy="2657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098571" y="1559368"/>
            <a:ext cx="1079500" cy="9830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UDP Logs </a:t>
            </a:r>
          </a:p>
        </p:txBody>
      </p:sp>
      <p:sp>
        <p:nvSpPr>
          <p:cNvPr id="37" name="Rounded Rectangle 37"/>
          <p:cNvSpPr/>
          <p:nvPr/>
        </p:nvSpPr>
        <p:spPr>
          <a:xfrm>
            <a:off x="9098570" y="2770073"/>
            <a:ext cx="1079501" cy="533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MF4 /DVSU</a:t>
            </a:r>
            <a:r>
              <a:rPr lang="en-US" dirty="0"/>
              <a:t> </a:t>
            </a:r>
          </a:p>
        </p:txBody>
      </p:sp>
      <p:sp>
        <p:nvSpPr>
          <p:cNvPr id="38" name="Rounded Rectangle 40"/>
          <p:cNvSpPr/>
          <p:nvPr/>
        </p:nvSpPr>
        <p:spPr>
          <a:xfrm>
            <a:off x="9098571" y="3570172"/>
            <a:ext cx="1079500" cy="13049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BINARY</a:t>
            </a:r>
          </a:p>
          <a:p>
            <a:pPr algn="ctr"/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dirty="0" err="1">
                <a:solidFill>
                  <a:srgbClr val="0070C0"/>
                </a:solidFill>
              </a:rPr>
              <a:t>Dets</a:t>
            </a:r>
            <a:r>
              <a:rPr lang="en-US" sz="1600" dirty="0">
                <a:solidFill>
                  <a:srgbClr val="0070C0"/>
                </a:solidFill>
              </a:rPr>
              <a:t>, Tracks , FF)</a:t>
            </a:r>
          </a:p>
        </p:txBody>
      </p:sp>
      <p:sp>
        <p:nvSpPr>
          <p:cNvPr id="39" name="Right Arrow 45"/>
          <p:cNvSpPr/>
          <p:nvPr/>
        </p:nvSpPr>
        <p:spPr>
          <a:xfrm>
            <a:off x="8488971" y="3510642"/>
            <a:ext cx="529768" cy="50006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own Arrow 51"/>
          <p:cNvSpPr/>
          <p:nvPr/>
        </p:nvSpPr>
        <p:spPr>
          <a:xfrm>
            <a:off x="7879371" y="2140961"/>
            <a:ext cx="276020" cy="55291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54"/>
          <p:cNvSpPr/>
          <p:nvPr/>
        </p:nvSpPr>
        <p:spPr>
          <a:xfrm flipH="1">
            <a:off x="7955570" y="1895621"/>
            <a:ext cx="1122564" cy="26485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42" name="Title 1"/>
          <p:cNvSpPr txBox="1">
            <a:spLocks/>
          </p:cNvSpPr>
          <p:nvPr/>
        </p:nvSpPr>
        <p:spPr>
          <a:xfrm>
            <a:off x="570958" y="252144"/>
            <a:ext cx="10972800" cy="833840"/>
          </a:xfrm>
          <a:prstGeom prst="rect">
            <a:avLst/>
          </a:prstGeom>
        </p:spPr>
        <p:txBody>
          <a:bodyPr vert="horz" lIns="91422" tIns="45712" rIns="91422" bIns="45712" rtlCol="0" anchor="b">
            <a:noAutofit/>
          </a:bodyPr>
          <a:lstStyle>
            <a:lvl1pPr algn="l" defTabSz="91422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0070C0"/>
                </a:solidFill>
              </a:rPr>
              <a:t>SIL  ( Detections Injection Mode for Tracker / FF Verification )</a:t>
            </a:r>
          </a:p>
        </p:txBody>
      </p:sp>
    </p:spTree>
    <p:extLst>
      <p:ext uri="{BB962C8B-B14F-4D97-AF65-F5344CB8AC3E}">
        <p14:creationId xmlns:p14="http://schemas.microsoft.com/office/powerpoint/2010/main" val="1001541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>
          <a:xfrm>
            <a:off x="1227266" y="6324599"/>
            <a:ext cx="3626088" cy="304802"/>
          </a:xfrm>
        </p:spPr>
        <p:txBody>
          <a:bodyPr/>
          <a:lstStyle/>
          <a:p>
            <a:r>
              <a:rPr lang="en-US" dirty="0"/>
              <a:t>RESIM Overview Part-2 | 16-Oct-2020 | Aptiv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755171" y="4078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478571" y="5284673"/>
            <a:ext cx="7115176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78571" y="1323197"/>
            <a:ext cx="7162800" cy="1219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478571" y="2542397"/>
            <a:ext cx="7162798" cy="28946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93497" y="1475597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ADC</a:t>
            </a:r>
          </a:p>
        </p:txBody>
      </p:sp>
      <p:sp>
        <p:nvSpPr>
          <p:cNvPr id="13" name="Right Arrow 8"/>
          <p:cNvSpPr/>
          <p:nvPr/>
        </p:nvSpPr>
        <p:spPr>
          <a:xfrm flipH="1" flipV="1">
            <a:off x="5907697" y="1627997"/>
            <a:ext cx="57150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4" name="Rectangle 13"/>
          <p:cNvSpPr/>
          <p:nvPr/>
        </p:nvSpPr>
        <p:spPr>
          <a:xfrm>
            <a:off x="4840897" y="1475597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RDD 1</a:t>
            </a:r>
            <a:r>
              <a:rPr lang="en-US" baseline="30000" dirty="0">
                <a:solidFill>
                  <a:srgbClr val="0070C0"/>
                </a:solidFill>
              </a:rPr>
              <a:t>st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Pass</a:t>
            </a:r>
          </a:p>
        </p:txBody>
      </p:sp>
      <p:sp>
        <p:nvSpPr>
          <p:cNvPr id="15" name="Right Arrow 38"/>
          <p:cNvSpPr/>
          <p:nvPr/>
        </p:nvSpPr>
        <p:spPr>
          <a:xfrm flipH="1" flipV="1">
            <a:off x="4078897" y="1656135"/>
            <a:ext cx="57150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6" name="Rectangle 15"/>
          <p:cNvSpPr/>
          <p:nvPr/>
        </p:nvSpPr>
        <p:spPr>
          <a:xfrm>
            <a:off x="2754921" y="1475597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RDD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70C0"/>
                </a:solidFill>
              </a:rPr>
              <a:t>2</a:t>
            </a:r>
            <a:r>
              <a:rPr lang="en-US" sz="1600" baseline="30000" dirty="0">
                <a:solidFill>
                  <a:srgbClr val="0070C0"/>
                </a:solidFill>
              </a:rPr>
              <a:t>nd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70C0"/>
                </a:solidFill>
              </a:rPr>
              <a:t>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78571" y="3303473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Angle Finding</a:t>
            </a:r>
          </a:p>
        </p:txBody>
      </p:sp>
      <p:sp>
        <p:nvSpPr>
          <p:cNvPr id="18" name="Right Arrow 48"/>
          <p:cNvSpPr/>
          <p:nvPr/>
        </p:nvSpPr>
        <p:spPr>
          <a:xfrm flipH="1" flipV="1">
            <a:off x="1907195" y="1704197"/>
            <a:ext cx="57150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9" name="Rectangle 18"/>
          <p:cNvSpPr/>
          <p:nvPr/>
        </p:nvSpPr>
        <p:spPr>
          <a:xfrm>
            <a:off x="6435906" y="4941773"/>
            <a:ext cx="1900665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IPC</a:t>
            </a:r>
          </a:p>
        </p:txBody>
      </p:sp>
      <p:sp>
        <p:nvSpPr>
          <p:cNvPr id="20" name="Down Arrow 61"/>
          <p:cNvSpPr/>
          <p:nvPr/>
        </p:nvSpPr>
        <p:spPr>
          <a:xfrm>
            <a:off x="6736371" y="4065473"/>
            <a:ext cx="266700" cy="809625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630971" y="5703773"/>
            <a:ext cx="990600" cy="3429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OS</a:t>
            </a:r>
          </a:p>
        </p:txBody>
      </p:sp>
      <p:sp>
        <p:nvSpPr>
          <p:cNvPr id="22" name="Down Arrow 10"/>
          <p:cNvSpPr/>
          <p:nvPr/>
        </p:nvSpPr>
        <p:spPr>
          <a:xfrm>
            <a:off x="1630971" y="2389073"/>
            <a:ext cx="304800" cy="838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-Right Arrow 46"/>
          <p:cNvSpPr/>
          <p:nvPr/>
        </p:nvSpPr>
        <p:spPr>
          <a:xfrm>
            <a:off x="8160359" y="5741873"/>
            <a:ext cx="862012" cy="266700"/>
          </a:xfrm>
          <a:prstGeom prst="left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9098571" y="5284673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CAN FD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2183" y="5665673"/>
            <a:ext cx="4319588" cy="4381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Detections, Tracks, Feature Output</a:t>
            </a:r>
          </a:p>
        </p:txBody>
      </p:sp>
      <p:sp>
        <p:nvSpPr>
          <p:cNvPr id="26" name="Up-Down Arrow 47"/>
          <p:cNvSpPr/>
          <p:nvPr/>
        </p:nvSpPr>
        <p:spPr>
          <a:xfrm>
            <a:off x="7707921" y="5360873"/>
            <a:ext cx="171450" cy="457200"/>
          </a:xfrm>
          <a:prstGeom prst="up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67"/>
          <p:cNvSpPr/>
          <p:nvPr/>
        </p:nvSpPr>
        <p:spPr>
          <a:xfrm>
            <a:off x="5583847" y="3455873"/>
            <a:ext cx="771524" cy="266700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74"/>
          <p:cNvSpPr/>
          <p:nvPr/>
        </p:nvSpPr>
        <p:spPr>
          <a:xfrm>
            <a:off x="2483561" y="2912032"/>
            <a:ext cx="276020" cy="55291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393379" y="3303473"/>
            <a:ext cx="1943192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Feature Functions</a:t>
            </a:r>
          </a:p>
        </p:txBody>
      </p:sp>
      <p:sp>
        <p:nvSpPr>
          <p:cNvPr id="30" name="Right Arrow 69"/>
          <p:cNvSpPr/>
          <p:nvPr/>
        </p:nvSpPr>
        <p:spPr>
          <a:xfrm>
            <a:off x="4129453" y="3493973"/>
            <a:ext cx="549518" cy="266700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883508" y="3303473"/>
            <a:ext cx="1228726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Detections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771" y="2237597"/>
            <a:ext cx="1066800" cy="304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IPC</a:t>
            </a:r>
          </a:p>
        </p:txBody>
      </p:sp>
      <p:sp>
        <p:nvSpPr>
          <p:cNvPr id="33" name="Right Arrow 70"/>
          <p:cNvSpPr/>
          <p:nvPr/>
        </p:nvSpPr>
        <p:spPr>
          <a:xfrm>
            <a:off x="2333990" y="3493973"/>
            <a:ext cx="549518" cy="266700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678971" y="3227273"/>
            <a:ext cx="990600" cy="685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Tracker</a:t>
            </a:r>
          </a:p>
        </p:txBody>
      </p:sp>
      <p:sp>
        <p:nvSpPr>
          <p:cNvPr id="35" name="Right Arrow 49"/>
          <p:cNvSpPr/>
          <p:nvPr/>
        </p:nvSpPr>
        <p:spPr>
          <a:xfrm flipH="1">
            <a:off x="2541052" y="2646256"/>
            <a:ext cx="5590289" cy="26577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098571" y="1559368"/>
            <a:ext cx="1381860" cy="9830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70C0"/>
                </a:solidFill>
              </a:rPr>
              <a:t>Dspace</a:t>
            </a:r>
            <a:r>
              <a:rPr lang="en-US" dirty="0">
                <a:solidFill>
                  <a:srgbClr val="0070C0"/>
                </a:solidFill>
              </a:rPr>
              <a:t> Simulated Detections</a:t>
            </a:r>
          </a:p>
        </p:txBody>
      </p:sp>
      <p:sp>
        <p:nvSpPr>
          <p:cNvPr id="37" name="Rounded Rectangle 37"/>
          <p:cNvSpPr/>
          <p:nvPr/>
        </p:nvSpPr>
        <p:spPr>
          <a:xfrm>
            <a:off x="9098570" y="2770073"/>
            <a:ext cx="1079501" cy="533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MF4 /DVSU</a:t>
            </a:r>
            <a:r>
              <a:rPr lang="en-US" dirty="0"/>
              <a:t> </a:t>
            </a:r>
          </a:p>
        </p:txBody>
      </p:sp>
      <p:sp>
        <p:nvSpPr>
          <p:cNvPr id="38" name="Rounded Rectangle 40"/>
          <p:cNvSpPr/>
          <p:nvPr/>
        </p:nvSpPr>
        <p:spPr>
          <a:xfrm>
            <a:off x="9098571" y="3570172"/>
            <a:ext cx="1079500" cy="13049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BINARY</a:t>
            </a:r>
          </a:p>
          <a:p>
            <a:pPr algn="ctr"/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dirty="0" err="1">
                <a:solidFill>
                  <a:srgbClr val="0070C0"/>
                </a:solidFill>
              </a:rPr>
              <a:t>Dets</a:t>
            </a:r>
            <a:r>
              <a:rPr lang="en-US" sz="1600" dirty="0">
                <a:solidFill>
                  <a:srgbClr val="0070C0"/>
                </a:solidFill>
              </a:rPr>
              <a:t>, Tracks , FF)</a:t>
            </a:r>
          </a:p>
        </p:txBody>
      </p:sp>
      <p:sp>
        <p:nvSpPr>
          <p:cNvPr id="39" name="Right Arrow 45"/>
          <p:cNvSpPr/>
          <p:nvPr/>
        </p:nvSpPr>
        <p:spPr>
          <a:xfrm>
            <a:off x="8488971" y="3510642"/>
            <a:ext cx="529768" cy="50006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own Arrow 51"/>
          <p:cNvSpPr/>
          <p:nvPr/>
        </p:nvSpPr>
        <p:spPr>
          <a:xfrm>
            <a:off x="7879371" y="2140961"/>
            <a:ext cx="276020" cy="55291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54"/>
          <p:cNvSpPr/>
          <p:nvPr/>
        </p:nvSpPr>
        <p:spPr>
          <a:xfrm flipH="1">
            <a:off x="7955570" y="1895621"/>
            <a:ext cx="1122564" cy="26485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42" name="Title 1"/>
          <p:cNvSpPr txBox="1">
            <a:spLocks/>
          </p:cNvSpPr>
          <p:nvPr/>
        </p:nvSpPr>
        <p:spPr>
          <a:xfrm>
            <a:off x="570958" y="252144"/>
            <a:ext cx="10972800" cy="833840"/>
          </a:xfrm>
          <a:prstGeom prst="rect">
            <a:avLst/>
          </a:prstGeom>
        </p:spPr>
        <p:txBody>
          <a:bodyPr vert="horz" lIns="91422" tIns="45712" rIns="91422" bIns="45712" rtlCol="0" anchor="b">
            <a:noAutofit/>
          </a:bodyPr>
          <a:lstStyle>
            <a:lvl1pPr algn="l" defTabSz="91422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0070C0"/>
                </a:solidFill>
              </a:rPr>
              <a:t>SIL  ( DSpace Injection Mode for Tracker / FF Verification )</a:t>
            </a:r>
          </a:p>
        </p:txBody>
      </p:sp>
    </p:spTree>
    <p:extLst>
      <p:ext uri="{BB962C8B-B14F-4D97-AF65-F5344CB8AC3E}">
        <p14:creationId xmlns:p14="http://schemas.microsoft.com/office/powerpoint/2010/main" val="2929490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CD14D11E47A04F8A1D8F1AE129B16D" ma:contentTypeVersion="18" ma:contentTypeDescription="Create a new document." ma:contentTypeScope="" ma:versionID="4f29d0adc6eb6eb592621649f45a31f7">
  <xsd:schema xmlns:xsd="http://www.w3.org/2001/XMLSchema" xmlns:xs="http://www.w3.org/2001/XMLSchema" xmlns:p="http://schemas.microsoft.com/office/2006/metadata/properties" xmlns:ns2="0c36092b-8ec2-40bd-b469-d1fe4f1e7785" xmlns:ns3="b5d27259-2aee-4319-bf8a-583a92469da7" xmlns:ns4="660dcfd0-9953-4b1d-8454-643f2e64b2fa" targetNamespace="http://schemas.microsoft.com/office/2006/metadata/properties" ma:root="true" ma:fieldsID="1effe7f7f26e6d1dbc02557a923d47ac" ns2:_="" ns3:_="" ns4:_="">
    <xsd:import namespace="0c36092b-8ec2-40bd-b469-d1fe4f1e7785"/>
    <xsd:import namespace="b5d27259-2aee-4319-bf8a-583a92469da7"/>
    <xsd:import namespace="660dcfd0-9953-4b1d-8454-643f2e64b2fa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fddf08f74f1e4eb0b4a866c10db37afa" minOccurs="0"/>
                <xsd:element ref="ns2:ka0759a5942f41c695b775aef8208f3e" minOccurs="0"/>
                <xsd:element ref="ns2:le32960acc2343b2a783ebfbeb256c3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3:Labe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6092b-8ec2-40bd-b469-d1fe4f1e7785" elementFormDefault="qualified">
    <xsd:import namespace="http://schemas.microsoft.com/office/2006/documentManagement/types"/>
    <xsd:import namespace="http://schemas.microsoft.com/office/infopath/2007/PartnerControls"/>
    <xsd:element name="TaxCatchAll" ma:index="2" nillable="true" ma:displayName="Taxonomy Catch All Column" ma:hidden="true" ma:list="{0b61abf6-0922-4adc-b246-c47b676c7ed4}" ma:internalName="TaxCatchAll" ma:showField="CatchAllData" ma:web="660dcfd0-9953-4b1d-8454-643f2e64b2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3" nillable="true" ma:displayName="Taxonomy Catch All Column1" ma:hidden="true" ma:list="{0b61abf6-0922-4adc-b246-c47b676c7ed4}" ma:internalName="TaxCatchAllLabel" ma:readOnly="true" ma:showField="CatchAllDataLabel" ma:web="660dcfd0-9953-4b1d-8454-643f2e64b2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fddf08f74f1e4eb0b4a866c10db37afa" ma:index="7" nillable="true" ma:taxonomy="true" ma:internalName="fddf08f74f1e4eb0b4a866c10db37afa" ma:taxonomyFieldName="emm_Division" ma:displayName="emm_Division" ma:readOnly="false" ma:default="" ma:fieldId="{fddf08f7-4f1e-4eb0-b4a8-66c10db37afa}" ma:sspId="9f8ee6ba-22ae-4b18-a96b-b6990d3e2b67" ma:termSetId="5dde4a48-55d5-4c0a-9779-582059f53b1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a0759a5942f41c695b775aef8208f3e" ma:index="8" nillable="true" ma:taxonomy="true" ma:internalName="ka0759a5942f41c695b775aef8208f3e" ma:taxonomyFieldName="emm_Function" ma:displayName="emm_Function" ma:readOnly="false" ma:default="" ma:fieldId="{4a0759a5-942f-41c6-95b7-75aef8208f3e}" ma:sspId="9f8ee6ba-22ae-4b18-a96b-b6990d3e2b67" ma:termSetId="2cdd7b0f-fc41-4bc0-b507-1083be529d1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e32960acc2343b2a783ebfbeb256c3d" ma:index="9" nillable="true" ma:taxonomy="true" ma:internalName="le32960acc2343b2a783ebfbeb256c3d" ma:taxonomyFieldName="emm_Language" ma:displayName="emm_Language" ma:readOnly="false" ma:default="" ma:fieldId="{5e32960a-cc23-43b2-a783-ebfbeb256c3d}" ma:sspId="9f8ee6ba-22ae-4b18-a96b-b6990d3e2b67" ma:termSetId="628d4a0e-43e1-471b-bfbd-4dccf339dc98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d27259-2aee-4319-bf8a-583a92469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22" nillable="true" ma:displayName="Tags" ma:internalName="MediaServiceAutoTag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7" nillable="true" ma:displayName="Location" ma:internalName="MediaServiceLocation" ma:readOnly="true">
      <xsd:simpleType>
        <xsd:restriction base="dms:Text"/>
      </xsd:simpleType>
    </xsd:element>
    <xsd:element name="MediaLengthInSeconds" ma:index="2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9f8ee6ba-22ae-4b18-a96b-b6990d3e2b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abel" ma:index="31" nillable="true" ma:displayName="Label" ma:format="Dropdown" ma:internalName="Label">
      <xsd:simpleType>
        <xsd:restriction base="dms:Text">
          <xsd:maxLength value="255"/>
        </xsd:restriction>
      </xsd:simpleType>
    </xsd:element>
    <xsd:element name="MediaServiceObjectDetectorVersions" ma:index="3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0dcfd0-9953-4b1d-8454-643f2e64b2fa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9f8ee6ba-22ae-4b18-a96b-b6990d3e2b67" ContentTypeId="0x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0759a5942f41c695b775aef8208f3e xmlns="0c36092b-8ec2-40bd-b469-d1fe4f1e7785">
      <Terms xmlns="http://schemas.microsoft.com/office/infopath/2007/PartnerControls"/>
    </ka0759a5942f41c695b775aef8208f3e>
    <lcf76f155ced4ddcb4097134ff3c332f xmlns="b5d27259-2aee-4319-bf8a-583a92469da7">
      <Terms xmlns="http://schemas.microsoft.com/office/infopath/2007/PartnerControls"/>
    </lcf76f155ced4ddcb4097134ff3c332f>
    <TaxCatchAll xmlns="0c36092b-8ec2-40bd-b469-d1fe4f1e7785" xsi:nil="true"/>
    <Label xmlns="b5d27259-2aee-4319-bf8a-583a92469da7" xsi:nil="true"/>
    <le32960acc2343b2a783ebfbeb256c3d xmlns="0c36092b-8ec2-40bd-b469-d1fe4f1e7785">
      <Terms xmlns="http://schemas.microsoft.com/office/infopath/2007/PartnerControls"/>
    </le32960acc2343b2a783ebfbeb256c3d>
    <fddf08f74f1e4eb0b4a866c10db37afa xmlns="0c36092b-8ec2-40bd-b469-d1fe4f1e7785">
      <Terms xmlns="http://schemas.microsoft.com/office/infopath/2007/PartnerControls"/>
    </fddf08f74f1e4eb0b4a866c10db37afa>
  </documentManagement>
</p:properties>
</file>

<file path=customXml/itemProps1.xml><?xml version="1.0" encoding="utf-8"?>
<ds:datastoreItem xmlns:ds="http://schemas.openxmlformats.org/officeDocument/2006/customXml" ds:itemID="{55B12A55-B0B2-494D-AD33-6DC5204A8CFD}"/>
</file>

<file path=customXml/itemProps2.xml><?xml version="1.0" encoding="utf-8"?>
<ds:datastoreItem xmlns:ds="http://schemas.openxmlformats.org/officeDocument/2006/customXml" ds:itemID="{4DDF1289-5C88-4BEB-827A-E8A94359632C}"/>
</file>

<file path=customXml/itemProps3.xml><?xml version="1.0" encoding="utf-8"?>
<ds:datastoreItem xmlns:ds="http://schemas.openxmlformats.org/officeDocument/2006/customXml" ds:itemID="{AB013D85-F0A8-401A-BFC6-80099104D182}"/>
</file>

<file path=customXml/itemProps4.xml><?xml version="1.0" encoding="utf-8"?>
<ds:datastoreItem xmlns:ds="http://schemas.openxmlformats.org/officeDocument/2006/customXml" ds:itemID="{9A3C559E-76B1-4B31-ABE6-7326407A6FA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Microsoft Office PowerPoint</Application>
  <PresentationFormat>Widescreen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SRR Radar Core Architecture</vt:lpstr>
      <vt:lpstr>SIL Data Injection and Entry Points</vt:lpstr>
      <vt:lpstr>PowerPoint Presentation</vt:lpstr>
      <vt:lpstr>PowerPoint Presentation</vt:lpstr>
      <vt:lpstr>PowerPoint Presentation</vt:lpstr>
    </vt:vector>
  </TitlesOfParts>
  <Company>APTIV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Jaggarapu, Pavan</dc:creator>
  <cp:lastModifiedBy>Jaggarapu, Pavan</cp:lastModifiedBy>
  <cp:revision>4</cp:revision>
  <dcterms:created xsi:type="dcterms:W3CDTF">2024-03-11T11:38:02Z</dcterms:created>
  <dcterms:modified xsi:type="dcterms:W3CDTF">2024-03-11T11:46:56Z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0x0101008FCD14D11E47A04F8A1D8F1AE129B16D</vt:lpwstr>
  </property>
</Properties>
</file>